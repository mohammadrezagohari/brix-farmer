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شروع</a:t>
            </a:r>
            <a:r>
              <a:rPr dirty="0"/>
              <a:t> </a:t>
            </a:r>
            <a:r>
              <a:rPr dirty="0" err="1"/>
              <a:t>ارائه</a:t>
            </a:r>
            <a:r>
              <a:rPr dirty="0"/>
              <a:t> </a:t>
            </a:r>
            <a:r>
              <a:rPr dirty="0" err="1"/>
              <a:t>با</a:t>
            </a:r>
            <a:r>
              <a:rPr dirty="0"/>
              <a:t> </a:t>
            </a:r>
            <a:r>
              <a:rPr dirty="0" err="1"/>
              <a:t>معرفی</a:t>
            </a:r>
            <a:r>
              <a:rPr dirty="0"/>
              <a:t> </a:t>
            </a:r>
            <a:r>
              <a:rPr dirty="0" err="1"/>
              <a:t>محصول</a:t>
            </a:r>
            <a:r>
              <a:rPr dirty="0"/>
              <a:t> و </a:t>
            </a:r>
            <a:r>
              <a:rPr dirty="0" err="1"/>
              <a:t>دو</a:t>
            </a:r>
            <a:r>
              <a:rPr dirty="0"/>
              <a:t> </a:t>
            </a:r>
            <a:r>
              <a:rPr dirty="0" err="1"/>
              <a:t>کاربر</a:t>
            </a:r>
            <a:r>
              <a:rPr dirty="0"/>
              <a:t> </a:t>
            </a:r>
            <a:r>
              <a:rPr dirty="0" err="1"/>
              <a:t>اصلی</a:t>
            </a:r>
            <a:r>
              <a:rPr dirty="0"/>
              <a:t>. </a:t>
            </a:r>
            <a:r>
              <a:rPr dirty="0" err="1"/>
              <a:t>AgriTrade</a:t>
            </a:r>
            <a:r>
              <a:rPr dirty="0"/>
              <a:t> </a:t>
            </a:r>
            <a:r>
              <a:rPr dirty="0" err="1"/>
              <a:t>فضای</a:t>
            </a:r>
            <a:r>
              <a:rPr dirty="0"/>
              <a:t> </a:t>
            </a:r>
            <a:r>
              <a:rPr dirty="0" err="1"/>
              <a:t>کاری</a:t>
            </a:r>
            <a:r>
              <a:rPr dirty="0"/>
              <a:t> </a:t>
            </a:r>
            <a:r>
              <a:rPr dirty="0" err="1"/>
              <a:t>معرفی</a:t>
            </a:r>
            <a:r>
              <a:rPr dirty="0"/>
              <a:t> </a:t>
            </a:r>
            <a:r>
              <a:rPr dirty="0" err="1"/>
              <a:t>محصول</a:t>
            </a:r>
            <a:r>
              <a:rPr dirty="0"/>
              <a:t> </a:t>
            </a:r>
            <a:r>
              <a:rPr dirty="0" err="1"/>
              <a:t>کشاورزی</a:t>
            </a:r>
            <a:r>
              <a:rPr dirty="0"/>
              <a:t>، </a:t>
            </a:r>
            <a:r>
              <a:rPr dirty="0" err="1"/>
              <a:t>مدیریت</a:t>
            </a:r>
            <a:r>
              <a:rPr dirty="0"/>
              <a:t> </a:t>
            </a:r>
            <a:r>
              <a:rPr dirty="0" err="1"/>
              <a:t>موجودی</a:t>
            </a:r>
            <a:r>
              <a:rPr dirty="0"/>
              <a:t> و </a:t>
            </a:r>
            <a:r>
              <a:rPr dirty="0" err="1"/>
              <a:t>کشف</a:t>
            </a:r>
            <a:r>
              <a:rPr dirty="0"/>
              <a:t> </a:t>
            </a:r>
            <a:r>
              <a:rPr dirty="0" err="1"/>
              <a:t>تأمین‌کننده</a:t>
            </a:r>
            <a:r>
              <a:rPr dirty="0"/>
              <a:t> </a:t>
            </a:r>
            <a:r>
              <a:rPr dirty="0" err="1"/>
              <a:t>است</a:t>
            </a:r>
            <a:r>
              <a:rPr dirty="0"/>
              <a:t>. </a:t>
            </a:r>
            <a:r>
              <a:rPr dirty="0" err="1"/>
              <a:t>تصویر</a:t>
            </a:r>
            <a:r>
              <a:rPr dirty="0"/>
              <a:t> </a:t>
            </a:r>
            <a:r>
              <a:rPr dirty="0" err="1"/>
              <a:t>مزرعه</a:t>
            </a:r>
            <a:r>
              <a:rPr dirty="0"/>
              <a:t> </a:t>
            </a:r>
            <a:r>
              <a:rPr dirty="0" err="1"/>
              <a:t>اثر</a:t>
            </a:r>
            <a:r>
              <a:rPr dirty="0"/>
              <a:t> </a:t>
            </a:r>
            <a:r>
              <a:rPr dirty="0" err="1"/>
              <a:t>تولیدشده</a:t>
            </a:r>
            <a:r>
              <a:rPr dirty="0"/>
              <a:t> </a:t>
            </a:r>
            <a:r>
              <a:rPr dirty="0" err="1"/>
              <a:t>برای</a:t>
            </a:r>
            <a:r>
              <a:rPr dirty="0"/>
              <a:t> </a:t>
            </a:r>
            <a:r>
              <a:rPr dirty="0" err="1"/>
              <a:t>هویت</a:t>
            </a:r>
            <a:r>
              <a:rPr dirty="0"/>
              <a:t> </a:t>
            </a:r>
            <a:r>
              <a:rPr dirty="0" err="1"/>
              <a:t>بصری</a:t>
            </a:r>
            <a:r>
              <a:rPr dirty="0"/>
              <a:t> </a:t>
            </a:r>
            <a:r>
              <a:rPr dirty="0" err="1"/>
              <a:t>سایت</a:t>
            </a:r>
            <a:r>
              <a:rPr dirty="0"/>
              <a:t> </a:t>
            </a:r>
            <a:r>
              <a:rPr dirty="0" err="1"/>
              <a:t>است</a:t>
            </a:r>
            <a:r>
              <a:rPr dirty="0"/>
              <a:t> و </a:t>
            </a:r>
            <a:r>
              <a:rPr dirty="0" err="1"/>
              <a:t>مزرعهٔ</a:t>
            </a:r>
            <a:r>
              <a:rPr dirty="0"/>
              <a:t> </a:t>
            </a:r>
            <a:r>
              <a:rPr dirty="0" err="1"/>
              <a:t>یک</a:t>
            </a:r>
            <a:r>
              <a:rPr dirty="0"/>
              <a:t> </a:t>
            </a:r>
            <a:r>
              <a:rPr dirty="0" err="1"/>
              <a:t>تأمین‌کنندهٔ</a:t>
            </a:r>
            <a:r>
              <a:rPr dirty="0"/>
              <a:t> </a:t>
            </a:r>
            <a:r>
              <a:rPr dirty="0" err="1"/>
              <a:t>واقعی</a:t>
            </a:r>
            <a:r>
              <a:rPr dirty="0"/>
              <a:t> </a:t>
            </a:r>
            <a:r>
              <a:rPr dirty="0" err="1"/>
              <a:t>را</a:t>
            </a:r>
            <a:r>
              <a:rPr dirty="0"/>
              <a:t> </a:t>
            </a:r>
            <a:r>
              <a:rPr dirty="0" err="1"/>
              <a:t>معرفی</a:t>
            </a:r>
            <a:r>
              <a:rPr dirty="0"/>
              <a:t> </a:t>
            </a:r>
            <a:r>
              <a:rPr dirty="0" err="1"/>
              <a:t>نمی‌کند</a:t>
            </a:r>
            <a:r>
              <a:rPr dirty="0"/>
              <a:t>. </a:t>
            </a:r>
            <a:r>
              <a:rPr dirty="0" err="1"/>
              <a:t>منبع</a:t>
            </a:r>
            <a:r>
              <a:rPr dirty="0"/>
              <a:t> </a:t>
            </a:r>
            <a:r>
              <a:rPr dirty="0" err="1"/>
              <a:t>تصویر</a:t>
            </a:r>
            <a:r>
              <a:rPr dirty="0"/>
              <a:t>: apps/web/public/images/fields.png.</a:t>
            </a:r>
          </a:p>
          <a:p>
            <a:endParaRPr dirty="0"/>
          </a:p>
          <a:p>
            <a:r>
              <a:rPr dirty="0" err="1"/>
              <a:t>منبع</a:t>
            </a:r>
            <a:r>
              <a:rPr dirty="0"/>
              <a:t> </a:t>
            </a:r>
            <a:r>
              <a:rPr dirty="0" err="1"/>
              <a:t>قابلیت‌ها</a:t>
            </a:r>
            <a:r>
              <a:rPr dirty="0"/>
              <a:t>: docs/IMPLEMENTATION_STATUS.md، docs/DECISIONS.md و </a:t>
            </a:r>
            <a:r>
              <a:rPr dirty="0" err="1"/>
              <a:t>کد</a:t>
            </a:r>
            <a:r>
              <a:rPr dirty="0"/>
              <a:t> </a:t>
            </a:r>
            <a:r>
              <a:rPr dirty="0" err="1"/>
              <a:t>رابط</a:t>
            </a:r>
            <a:r>
              <a:rPr dirty="0"/>
              <a:t> </a:t>
            </a:r>
            <a:r>
              <a:rPr dirty="0" err="1"/>
              <a:t>کاربری</a:t>
            </a:r>
            <a:r>
              <a:rPr dirty="0"/>
              <a:t> </a:t>
            </a:r>
            <a:r>
              <a:rPr dirty="0" err="1"/>
              <a:t>در</a:t>
            </a:r>
            <a:r>
              <a:rPr dirty="0"/>
              <a:t> apps/web/</a:t>
            </a:r>
            <a:r>
              <a:rPr dirty="0" err="1"/>
              <a:t>src</a:t>
            </a:r>
            <a:r>
              <a:rPr dirty="0"/>
              <a:t>/components/. </a:t>
            </a:r>
            <a:r>
              <a:rPr dirty="0" err="1"/>
              <a:t>وضعیت</a:t>
            </a:r>
            <a:r>
              <a:rPr dirty="0"/>
              <a:t> </a:t>
            </a:r>
            <a:r>
              <a:rPr dirty="0" err="1"/>
              <a:t>محصول</a:t>
            </a:r>
            <a:r>
              <a:rPr dirty="0"/>
              <a:t>: ۲۴ </a:t>
            </a:r>
            <a:r>
              <a:rPr dirty="0" err="1"/>
              <a:t>اکتبر</a:t>
            </a:r>
            <a:r>
              <a:rPr dirty="0"/>
              <a:t> ۲۰۲۶. </a:t>
            </a:r>
            <a:r>
              <a:rPr dirty="0" err="1"/>
              <a:t>تصاویر</a:t>
            </a:r>
            <a:r>
              <a:rPr dirty="0"/>
              <a:t> </a:t>
            </a:r>
            <a:r>
              <a:rPr dirty="0" err="1"/>
              <a:t>رابط</a:t>
            </a:r>
            <a:r>
              <a:rPr dirty="0"/>
              <a:t> </a:t>
            </a:r>
            <a:r>
              <a:rPr dirty="0" err="1"/>
              <a:t>از</a:t>
            </a:r>
            <a:r>
              <a:rPr dirty="0"/>
              <a:t> </a:t>
            </a:r>
            <a:r>
              <a:rPr dirty="0" err="1"/>
              <a:t>برنامهٔ</a:t>
            </a:r>
            <a:r>
              <a:rPr dirty="0"/>
              <a:t> </a:t>
            </a:r>
            <a:r>
              <a:rPr dirty="0" err="1"/>
              <a:t>محلی</a:t>
            </a:r>
            <a:r>
              <a:rPr dirty="0"/>
              <a:t> </a:t>
            </a:r>
            <a:r>
              <a:rPr dirty="0" err="1"/>
              <a:t>با</a:t>
            </a:r>
            <a:r>
              <a:rPr dirty="0"/>
              <a:t> </a:t>
            </a:r>
            <a:r>
              <a:rPr dirty="0" err="1"/>
              <a:t>پاسخ‌های</a:t>
            </a:r>
            <a:r>
              <a:rPr dirty="0"/>
              <a:t> API </a:t>
            </a:r>
            <a:r>
              <a:rPr dirty="0" err="1"/>
              <a:t>نمایشی</a:t>
            </a:r>
            <a:r>
              <a:rPr dirty="0"/>
              <a:t> </a:t>
            </a:r>
            <a:r>
              <a:rPr dirty="0" err="1"/>
              <a:t>گرفته</a:t>
            </a:r>
            <a:r>
              <a:rPr dirty="0"/>
              <a:t> </a:t>
            </a:r>
            <a:r>
              <a:rPr dirty="0" err="1"/>
              <a:t>شده‌اند</a:t>
            </a:r>
            <a:r>
              <a:rPr dirty="0"/>
              <a:t>. </a:t>
            </a:r>
            <a:r>
              <a:rPr dirty="0" err="1"/>
              <a:t>تمام</a:t>
            </a:r>
            <a:r>
              <a:rPr dirty="0"/>
              <a:t> </a:t>
            </a:r>
            <a:r>
              <a:rPr dirty="0" err="1"/>
              <a:t>نام‌ها</a:t>
            </a:r>
            <a:r>
              <a:rPr dirty="0"/>
              <a:t>، </a:t>
            </a:r>
            <a:r>
              <a:rPr dirty="0" err="1"/>
              <a:t>مقادیر</a:t>
            </a:r>
            <a:r>
              <a:rPr dirty="0"/>
              <a:t> </a:t>
            </a:r>
            <a:r>
              <a:rPr dirty="0" err="1"/>
              <a:t>موجودی</a:t>
            </a:r>
            <a:r>
              <a:rPr dirty="0"/>
              <a:t> و </a:t>
            </a:r>
            <a:r>
              <a:rPr dirty="0" err="1"/>
              <a:t>تعدادها</a:t>
            </a:r>
            <a:r>
              <a:rPr dirty="0"/>
              <a:t> </a:t>
            </a:r>
            <a:r>
              <a:rPr dirty="0" err="1"/>
              <a:t>در</a:t>
            </a:r>
            <a:r>
              <a:rPr dirty="0"/>
              <a:t> </a:t>
            </a:r>
            <a:r>
              <a:rPr dirty="0" err="1"/>
              <a:t>تصاویر</a:t>
            </a:r>
            <a:r>
              <a:rPr dirty="0"/>
              <a:t> </a:t>
            </a:r>
            <a:r>
              <a:rPr dirty="0" err="1"/>
              <a:t>نمونه‌اند</a:t>
            </a:r>
            <a:r>
              <a:rPr dirty="0"/>
              <a:t> و </a:t>
            </a:r>
            <a:r>
              <a:rPr dirty="0" err="1"/>
              <a:t>شاخص</a:t>
            </a:r>
            <a:r>
              <a:rPr dirty="0"/>
              <a:t> </a:t>
            </a:r>
            <a:r>
              <a:rPr dirty="0" err="1"/>
              <a:t>فعالیت</a:t>
            </a:r>
            <a:r>
              <a:rPr dirty="0"/>
              <a:t> </a:t>
            </a:r>
            <a:r>
              <a:rPr dirty="0" err="1"/>
              <a:t>تجاری</a:t>
            </a:r>
            <a:r>
              <a:rPr dirty="0"/>
              <a:t> </a:t>
            </a:r>
            <a:r>
              <a:rPr dirty="0" err="1"/>
              <a:t>واقعی</a:t>
            </a:r>
            <a:r>
              <a:rPr dirty="0"/>
              <a:t> </a:t>
            </a:r>
            <a:r>
              <a:rPr dirty="0" err="1"/>
              <a:t>نیستند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محصول با گردآوردن اطلاعات عرضه، موجودی و ارتباط با مشتری، یک نقطهٔ مشترک برای کشاورز و تاجر فراهم می‌کند. تصویر پسته صرفاً یک تصویرسازی مفهومی است، نه محصولِ فروشنده‌ای مشخص. تصویر: .build/product-deck-20261024/assets/pistachio.png، ساخته‌شده با image_gen.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دو نقش اصلی محصول را معرفی کنید. تأمین‌کننده محصولات و موجودی خود را مدیریت می‌کند. تاجر عرضه‌های منتشرشده را می‌بیند، رزرو موقت انجام می‌دهد و مشتریان خود را مدیریت می‌کند. هیچ فعالیت فروش واقعی یا نتیجهٔ اقتصادی از دادهٔ نمایشی استنباط نمی‌شود.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این مسیر، گردش موجودِ معرفی و رزرو محصول را توضیح می‌دهد. تأیید سازمان و انتشار آگهی را دو تصمیم مستقل معرفی کنید. مرحلهٔ پایانی رزرو موقت است، نه سفارش، قرارداد یا خرید.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در داشبورد کشاورز، موجودی، وضعیت محصولات و درخواست‌های ورودی در دسترس‌اند. آمار در تصویر صرفاً دادهٔ نمایشی است. منبع تصویر: assets/farmer.png.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فرم ثبت محصول پنج مرحله دارد: اطلاعات محصول، مقدار و کیفیت، محل و بسته‌بندی، شرایط عرضه و بررسی و ارسال. ذخیرهٔ پیش‌نویس پشتیبانی می‌شود. مقدار و مبدأ موجودیِ ارسال‌شده قابل تغییر نیستند. منبع تصویر: assets/wizard-detail.png.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تفکیک موجودی از قابلیت‌های موجود است. این اسلاید هیچ مالکیت خریداری‌شده یا انتقال مالکیت را از رزرو استنباط نمی‌کند. تصویر رابط دارای دادهٔ نمونه است. منبع تصویر: assets/inventory-table.png.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بازار، آگهی‌های منتشرشدهٔ تأمین‌کنندگان واجد شرایط را نشان می‌دهد. جست‌وجو، فیلتر کشور و جزئیات محصول در رابط موجودند. تأیید سازمان به معنی تضمین کیفیت یا مجوز صادرات نیست. منبع تصویر: assets/market-focus.png.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رزرو در محصول فعلی ۳۰ دقیقه اعتبار دارد و می‌تواند بخشی از موجودی را در بر بگیرد. رزرو خرید، پرداخت، قرارداد یا انتقال مالکیت نیست. این محدودیت روی اسلاید هم دیده می‌شود. منبع تصویر: assets/reservation-focus.png.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مدیریت مشتری و فرصت تجاری در محصول پیاده‌سازی شده است. تغییر مرحلهٔ فرصت فقط وضعیت CRM را تغییر می‌دهد و قرارداد یا سفارش ایجاد نمی‌کند. منبع تصویر: assets/crm-focus.png.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بررسی حقوقی سازمان و بررسی آگهی دو گام مستقل هستند. تصمیم احراز سازمان دلیل و شواهد متنی دارد. سامانهٔ اسناد خصوصی امن و تأیید مقرراتی کامل هنوز جزو نسخهٔ موجود نیستند. منبع تصویر: assets/kyb.png.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ده زبان فعال رابط عبارت‌اند از فارسی، انگلیسی، پرتغالی، روسی، چینی، هندی، عربی، امهری، اندونزیایی و زولو. فرهنگ کامل لندینگ و خطاها در کد موجود است. ترجمهٔ همهٔ واژه‌های داشبورد در همهٔ زبان‌ها هنوز کامل نیست و برخی از متن‌های جدید پنل‌ها به انگلیسی برمی‌گردند. نباید پوشش کامل تمام زبان‌های رسمی کشورهای بریکس یا تأیید بومی‌زبان را ادعا کرد. منبع: apps/web/src/lib/landing-copy.ts، i18n.ts، errors.ts و dashboard.ts.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رابط در موبایل و دسکتاپ طراحی شده و تنظیم روشن، تاریک و پیروی از سیستم را ذخیره می‌کند. تصویر دسکتاپ نمای برنامه با دادهٔ نمایشی و تصویر موبایل از لندینگ واقعی محصول است. منابع تصویر: assets/dark.png و assets/mobile-ar.png.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این قابلیت‌ها از وضعیت پیاده‌سازی مخزن استخراج شده‌اند. دسترسی خصوصی با عضویت سازمانی محدود می‌شود، مقادیر اعشاری رشته‌ای و BCMath به کار می‌رود و گردش موجودی و outbox اتمیک ثبت می‌شوند. این اسلاید ادعای آماده‌بودن برای تولید، تأیید حقوقی یا قابلیت پرداخت ندارد.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ستون امروز قابلیت‌های موجود را فهرست می‌کند. ستون گام بعدی نقشهٔ توسعه است و تعهد زمان‌بندی، بودجه یا ادعای پیاده‌سازی ایجاد نمی‌کند. مذاکرهٔ تجاری نسخه‌دار، سفارش و قرارداد، سند خصوصی، حمل، پرداخت و تأیید صادرات هنوز کامل نیستند.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پایان ارائه با پیشنهاد دموی زندهٔ محصول. گردش قابل نمایش: معرفی محصول، بررسی سازمان و آگهی، جست‌وجو و رزرو موقت. طبق درخواست کاربر، مبلغ جذب سرمایه، اعضای تیم، درآمد، مشتری واقعی و اندازهٔ بازار در این نسخه نیامده‌اند. AgriTrade یک پلتفرم مستقل است و وابستگی رسمی به گروه بریکس ادعا نمی‌کند.</a:t>
            </a:r>
          </a:p>
          <a:p>
            <a:endParaRPr/>
          </a:p>
          <a:p>
            <a:r>
              <a:t>منبع قابلیت‌ها: docs/IMPLEMENTATION_STATUS.md، docs/DECISIONS.md و کد رابط کاربری در apps/web/src/components/. وضعیت محصول: ۲۴ اکتبر ۲۰۲۶. تصاویر رابط از برنامهٔ محلی با پاسخ‌های API نمایشی گرفته شده‌اند. تمام نام‌ها، مقادیر موجودی و تعدادها در تصاویر نمونه‌اند و شاخص فعالیت تجاری واقعی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0AA49B8-4797-480A-B9D3-6EDB2233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0E527D5-6004-40BB-8683-BE58E3315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672034D-58A8-4EC6-8540-2ABB3625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54C0555-A432-4623-B4AB-F3851492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D19C773-06ED-4497-A774-D72C1A51D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01E1E57-01A6-4D2C-BB6A-8B062C8A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8467F24-1572-4642-945E-A0FAAED40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2671B5A-433B-47C7-B263-54421AF68B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DBC3A5-42D2-4ED7-8A57-85511213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C511571-F8CE-49B8-8E98-7029C732F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rand-footer">
            <a:extLst>
              <a:ext uri="{FF2B5EF4-FFF2-40B4-BE49-F238E27FC236}">
                <a16:creationId xmlns:a16="http://schemas.microsoft.com/office/drawing/2014/main" id="{702EF6E9-2239-4779-9522-C601FAFC4FC4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9B2050C8-7FF6-4778-9647-51D9CEE3182B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1792A0-2B45-49B7-B89E-20D84DF1F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32" b="3532"/>
          <a:stretch>
            <a:fillRect/>
          </a:stretch>
        </p:blipFill>
        <p:spPr>
          <a:xfrm>
            <a:off x="0" y="0"/>
            <a:ext cx="5905500" cy="6858000"/>
          </a:xfrm>
          <a:prstGeom prst="rect">
            <a:avLst/>
          </a:prstGeom>
        </p:spPr>
      </p:pic>
      <p:sp>
        <p:nvSpPr>
          <p:cNvPr id="4" name="text">
            <a:extLst>
              <a:ext uri="{FF2B5EF4-FFF2-40B4-BE49-F238E27FC236}">
                <a16:creationId xmlns:a16="http://schemas.microsoft.com/office/drawing/2014/main" id="{2E7876D0-0D24-4E47-8A69-CD3E8A53C193}"/>
              </a:ext>
            </a:extLst>
          </p:cNvPr>
          <p:cNvSpPr>
            <a:spLocks noGrp="1"/>
          </p:cNvSpPr>
          <p:nvPr/>
        </p:nvSpPr>
        <p:spPr>
          <a:xfrm>
            <a:off x="6619875" y="79057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fa-IR" sz="1800" b="0" dirty="0">
                <a:solidFill>
                  <a:srgbClr val="B6CA86"/>
                </a:solidFill>
                <a:cs typeface="B Nazanin" panose="00000400000000000000" pitchFamily="2" charset="-78"/>
              </a:rPr>
              <a:t>معرفی محصول</a:t>
            </a: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E424F762-32B9-42DC-A9CC-A243424B8048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5381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68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en-US" dirty="0" err="1">
                <a:cs typeface="B Nazanin" panose="00000400000000000000" pitchFamily="2" charset="-78"/>
              </a:rPr>
              <a:t>AgriBrics</a:t>
            </a:r>
            <a:endParaRPr sz="6825" b="1" dirty="0">
              <a:solidFill>
                <a:srgbClr val="F5F3E9"/>
              </a:solidFill>
              <a:cs typeface="B Nazanin" panose="00000400000000000000" pitchFamily="2" charset="-78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79345CD-D4CA-4FA7-BEBC-CDB63E20B1B5}"/>
              </a:ext>
            </a:extLst>
          </p:cNvPr>
          <p:cNvSpPr>
            <a:spLocks noGrp="1"/>
          </p:cNvSpPr>
          <p:nvPr/>
        </p:nvSpPr>
        <p:spPr>
          <a:xfrm>
            <a:off x="6477000" y="3086100"/>
            <a:ext cx="5095875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4200" b="1" dirty="0">
                <a:solidFill>
                  <a:srgbClr val="F5F3E9"/>
                </a:solidFill>
                <a:cs typeface="B Nazanin" panose="00000400000000000000" pitchFamily="2" charset="-78"/>
              </a:rPr>
              <a:t>از مزرعه</a:t>
            </a:r>
          </a:p>
          <a:p>
            <a:pPr algn="r" rtl="1">
              <a:defRPr sz="42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4200" b="1" dirty="0">
                <a:solidFill>
                  <a:srgbClr val="F5F3E9"/>
                </a:solidFill>
                <a:cs typeface="B Nazanin" panose="00000400000000000000" pitchFamily="2" charset="-78"/>
              </a:rPr>
              <a:t>تا فرصت تجاری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26313-F635-41FE-8CCB-13FB48021A38}"/>
              </a:ext>
            </a:extLst>
          </p:cNvPr>
          <p:cNvSpPr>
            <a:spLocks noGrp="1"/>
          </p:cNvSpPr>
          <p:nvPr/>
        </p:nvSpPr>
        <p:spPr>
          <a:xfrm>
            <a:off x="6477000" y="5334000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0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lang="fa-IR" sz="2025" b="0" dirty="0">
                <a:solidFill>
                  <a:srgbClr val="DCC39A"/>
                </a:solidFill>
                <a:cs typeface="B Nazanin" panose="00000400000000000000" pitchFamily="2" charset="-78"/>
              </a:rPr>
              <a:t>فضای کاری کشاورزان و تجار</a:t>
            </a:r>
          </a:p>
        </p:txBody>
      </p:sp>
    </p:spTree>
    <p:extLst>
      <p:ext uri="{BB962C8B-B14F-4D97-AF65-F5344CB8AC3E}">
        <p14:creationId xmlns:p14="http://schemas.microsoft.com/office/powerpoint/2010/main" val="194235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rand-footer">
            <a:extLst>
              <a:ext uri="{FF2B5EF4-FFF2-40B4-BE49-F238E27FC236}">
                <a16:creationId xmlns:a16="http://schemas.microsoft.com/office/drawing/2014/main" id="{584647A3-782E-4603-B362-1AD741B53CFD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36DA1E2E-9D69-40FA-9425-3680E546BD3E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02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3B90E-DCF8-4F34-8DEE-FC99AD1D84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-title">
            <a:extLst>
              <a:ext uri="{FF2B5EF4-FFF2-40B4-BE49-F238E27FC236}">
                <a16:creationId xmlns:a16="http://schemas.microsoft.com/office/drawing/2014/main" id="{F60B9613-E7AA-4933-AF37-E0FEEE9CB343}"/>
              </a:ext>
            </a:extLst>
          </p:cNvPr>
          <p:cNvSpPr>
            <a:spLocks noGrp="1"/>
          </p:cNvSpPr>
          <p:nvPr/>
        </p:nvSpPr>
        <p:spPr>
          <a:xfrm>
            <a:off x="6953250" y="1524000"/>
            <a:ext cx="4667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525" b="1" dirty="0">
                <a:solidFill>
                  <a:srgbClr val="F5F3E9"/>
                </a:solidFill>
                <a:cs typeface="B Nazanin" panose="00000400000000000000" pitchFamily="2" charset="-78"/>
              </a:rPr>
              <a:t>عرضه و تأمین</a:t>
            </a:r>
          </a:p>
          <a:p>
            <a:pPr algn="r" rtl="1">
              <a:defRPr sz="35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525" b="1" dirty="0">
                <a:solidFill>
                  <a:srgbClr val="F5F3E9"/>
                </a:solidFill>
                <a:cs typeface="B Nazanin" panose="00000400000000000000" pitchFamily="2" charset="-78"/>
              </a:rPr>
              <a:t>در یک فضای مشترک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363A022-AE5A-4BC6-B623-74B4DD5DCBCD}"/>
              </a:ext>
            </a:extLst>
          </p:cNvPr>
          <p:cNvSpPr>
            <a:spLocks noGrp="1"/>
          </p:cNvSpPr>
          <p:nvPr/>
        </p:nvSpPr>
        <p:spPr>
          <a:xfrm>
            <a:off x="7143750" y="4105275"/>
            <a:ext cx="442912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lang="fa-IR" sz="3200" b="0" dirty="0">
                <a:solidFill>
                  <a:srgbClr val="E0E5D4"/>
                </a:solidFill>
                <a:cs typeface="B Nazanin" panose="00000400000000000000" pitchFamily="2" charset="-78"/>
              </a:rPr>
              <a:t>مشخصات محصول، موجودی</a:t>
            </a:r>
          </a:p>
          <a:p>
            <a:pPr algn="r" rtl="1">
              <a:defRPr sz="1950" b="0">
                <a:solidFill>
                  <a:srgbClr val="E0E5D4"/>
                </a:solidFill>
                <a:latin typeface="Tahoma"/>
                <a:ea typeface="Tahoma"/>
                <a:cs typeface="Tahoma"/>
              </a:defRPr>
            </a:pPr>
            <a:r>
              <a:rPr lang="fa-IR" sz="3200" b="0" dirty="0">
                <a:solidFill>
                  <a:srgbClr val="E0E5D4"/>
                </a:solidFill>
                <a:cs typeface="B Nazanin" panose="00000400000000000000" pitchFamily="2" charset="-78"/>
              </a:rPr>
              <a:t>و ارتباط با مشتری در کنار هم</a:t>
            </a:r>
          </a:p>
        </p:txBody>
      </p:sp>
    </p:spTree>
    <p:extLst>
      <p:ext uri="{BB962C8B-B14F-4D97-AF65-F5344CB8AC3E}">
        <p14:creationId xmlns:p14="http://schemas.microsoft.com/office/powerpoint/2010/main" val="58806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rand-footer">
            <a:extLst>
              <a:ext uri="{FF2B5EF4-FFF2-40B4-BE49-F238E27FC236}">
                <a16:creationId xmlns:a16="http://schemas.microsoft.com/office/drawing/2014/main" id="{4B897875-FAA4-4B74-A6EE-B9785C4B3CB1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D79073B0-BEFF-41DE-83E2-BEDBD0F80624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03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A8A53EBD-BF12-439C-A65B-6B039E9A298C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3300" b="1" dirty="0">
                <a:solidFill>
                  <a:srgbClr val="193B2D"/>
                </a:solidFill>
                <a:cs typeface="B Nazanin" panose="00000400000000000000" pitchFamily="2" charset="-78"/>
              </a:rPr>
              <a:t>دو نقش، یک محصول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E3C8863-8F81-4CCA-9201-EE6FED32C6A8}"/>
              </a:ext>
            </a:extLst>
          </p:cNvPr>
          <p:cNvSpPr>
            <a:spLocks noGrp="1"/>
          </p:cNvSpPr>
          <p:nvPr/>
        </p:nvSpPr>
        <p:spPr>
          <a:xfrm>
            <a:off x="6762750" y="1695450"/>
            <a:ext cx="4810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49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4950" b="1" dirty="0">
                <a:solidFill>
                  <a:srgbClr val="193B2D"/>
                </a:solidFill>
                <a:cs typeface="B Nazanin" panose="00000400000000000000" pitchFamily="2" charset="-78"/>
              </a:rPr>
              <a:t>کشاورز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49516DA-A629-40F6-A877-213892A99026}"/>
              </a:ext>
            </a:extLst>
          </p:cNvPr>
          <p:cNvSpPr>
            <a:spLocks noGrp="1"/>
          </p:cNvSpPr>
          <p:nvPr/>
        </p:nvSpPr>
        <p:spPr>
          <a:xfrm>
            <a:off x="6762750" y="3143250"/>
            <a:ext cx="4810125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175" b="0" dirty="0">
                <a:solidFill>
                  <a:srgbClr val="6B786B"/>
                </a:solidFill>
                <a:cs typeface="B Nazanin" panose="00000400000000000000" pitchFamily="2" charset="-78"/>
              </a:rPr>
              <a:t>معرفی محصول و شرایط عرضه</a:t>
            </a:r>
          </a:p>
          <a:p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175" b="0" dirty="0">
                <a:solidFill>
                  <a:srgbClr val="6B786B"/>
                </a:solidFill>
                <a:cs typeface="B Nazanin" panose="00000400000000000000" pitchFamily="2" charset="-78"/>
              </a:rPr>
              <a:t>مدیریت موجودی و برداشت‌ها</a:t>
            </a:r>
          </a:p>
          <a:p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175" b="0" dirty="0">
                <a:solidFill>
                  <a:srgbClr val="6B786B"/>
                </a:solidFill>
                <a:cs typeface="B Nazanin" panose="00000400000000000000" pitchFamily="2" charset="-78"/>
              </a:rPr>
              <a:t>پیگیری درخواست‌های رزرو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A16E038-DED2-4F1F-BD98-6A5D776F5796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4905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defPPr>
            <a:lvl1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1pPr>
            <a:lvl2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2pPr>
            <a:lvl3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3pPr>
            <a:lvl4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4pPr>
            <a:lvl5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5pPr>
            <a:lvl6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6pPr>
            <a:lvl7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7pPr>
            <a:lvl8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8pPr>
            <a:lvl9pPr algn="r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4950" b="1">
                <a:solidFill>
                  <a:srgbClr val="719151"/>
                </a:solidFill>
                <a:latin typeface="Tahoma"/>
                <a:ea typeface="Tahoma"/>
                <a:cs typeface="Tahoma"/>
              </a:defRPr>
            </a:pPr>
            <a:r>
              <a:rPr lang="fa-IR" sz="4950" b="1" dirty="0">
                <a:solidFill>
                  <a:srgbClr val="719151"/>
                </a:solidFill>
                <a:cs typeface="B Nazanin" panose="00000400000000000000" pitchFamily="2" charset="-78"/>
              </a:rPr>
              <a:t>تاجر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B24C8AD-2A3D-45F0-9106-512466C9B752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4905375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175" b="0" dirty="0">
                <a:solidFill>
                  <a:srgbClr val="6B786B"/>
                </a:solidFill>
                <a:cs typeface="B Nazanin" panose="00000400000000000000" pitchFamily="2" charset="-78"/>
              </a:rPr>
              <a:t>جست‌وجوی عرضه‌های منتشرشده</a:t>
            </a:r>
          </a:p>
          <a:p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175" b="0" dirty="0">
                <a:solidFill>
                  <a:srgbClr val="6B786B"/>
                </a:solidFill>
                <a:cs typeface="B Nazanin" panose="00000400000000000000" pitchFamily="2" charset="-78"/>
              </a:rPr>
              <a:t>رزرو موقت مقدار موردنیاز</a:t>
            </a:r>
          </a:p>
          <a:p>
            <a:pPr algn="r" rtl="1">
              <a:defRPr sz="21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175" b="0" dirty="0">
                <a:solidFill>
                  <a:srgbClr val="6B786B"/>
                </a:solidFill>
                <a:cs typeface="B Nazanin" panose="00000400000000000000" pitchFamily="2" charset="-78"/>
              </a:rPr>
              <a:t>مدیریت مشتری و فرصت تجاری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D37C90F-8C20-40F5-BE6B-E9EE8BD5578B}"/>
              </a:ext>
            </a:extLst>
          </p:cNvPr>
          <p:cNvSpPr>
            <a:spLocks noGrp="1"/>
          </p:cNvSpPr>
          <p:nvPr/>
        </p:nvSpPr>
        <p:spPr>
          <a:xfrm>
            <a:off x="1905000" y="5686425"/>
            <a:ext cx="9667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193B2D"/>
                </a:solidFill>
                <a:cs typeface="B Nazanin" panose="00000400000000000000" pitchFamily="2" charset="-78"/>
              </a:rPr>
              <a:t>فضای کاری هر سازمان، متناسب با نقش و عضویت کاربر</a:t>
            </a:r>
          </a:p>
        </p:txBody>
      </p:sp>
    </p:spTree>
    <p:extLst>
      <p:ext uri="{BB962C8B-B14F-4D97-AF65-F5344CB8AC3E}">
        <p14:creationId xmlns:p14="http://schemas.microsoft.com/office/powerpoint/2010/main" val="46226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rand-footer">
            <a:extLst>
              <a:ext uri="{FF2B5EF4-FFF2-40B4-BE49-F238E27FC236}">
                <a16:creationId xmlns:a16="http://schemas.microsoft.com/office/drawing/2014/main" id="{450E3615-8327-4D1A-A51C-EB1994CB48FF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155694E9-7CCF-46EF-98B3-93E484ECAE1E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04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8C9DF39A-689D-4964-8B7F-2360E65683C3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F5F3E9"/>
                </a:solidFill>
                <a:cs typeface="B Nazanin" panose="00000400000000000000" pitchFamily="2" charset="-78"/>
              </a:rPr>
              <a:t>مسیر محصول از معرفی تا رزرو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F1EBAF4-04DB-4B8F-90F4-FAA38B258443}"/>
              </a:ext>
            </a:extLst>
          </p:cNvPr>
          <p:cNvSpPr>
            <a:spLocks noGrp="1"/>
          </p:cNvSpPr>
          <p:nvPr/>
        </p:nvSpPr>
        <p:spPr>
          <a:xfrm>
            <a:off x="9001125" y="2028825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cs typeface="B Nazanin" panose="00000400000000000000" pitchFamily="2" charset="-78"/>
              </a:rPr>
              <a:t>01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405C150-2339-485A-AF5C-36BE5D7451E0}"/>
              </a:ext>
            </a:extLst>
          </p:cNvPr>
          <p:cNvSpPr>
            <a:spLocks noGrp="1"/>
          </p:cNvSpPr>
          <p:nvPr/>
        </p:nvSpPr>
        <p:spPr>
          <a:xfrm>
            <a:off x="9001125" y="32766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1">
                <a:solidFill>
                  <a:srgbClr val="F5F3E9"/>
                </a:solidFill>
                <a:cs typeface="B Nazanin" panose="00000400000000000000" pitchFamily="2" charset="-78"/>
              </a:rPr>
              <a:t>پروفایل حقوقی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8413DB8-5A98-45B1-9616-4287D3183434}"/>
              </a:ext>
            </a:extLst>
          </p:cNvPr>
          <p:cNvSpPr>
            <a:spLocks noGrp="1"/>
          </p:cNvSpPr>
          <p:nvPr/>
        </p:nvSpPr>
        <p:spPr>
          <a:xfrm>
            <a:off x="9001125" y="4143375"/>
            <a:ext cx="2571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اطلاعات سازمان</a:t>
            </a:r>
          </a:p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برای بررسی مدیر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88557B6-DC76-407D-BA7F-D65E428B91C7}"/>
              </a:ext>
            </a:extLst>
          </p:cNvPr>
          <p:cNvSpPr>
            <a:spLocks noGrp="1"/>
          </p:cNvSpPr>
          <p:nvPr/>
        </p:nvSpPr>
        <p:spPr>
          <a:xfrm>
            <a:off x="6191250" y="2028825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cs typeface="B Nazanin" panose="00000400000000000000" pitchFamily="2" charset="-78"/>
              </a:rPr>
              <a:t>02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B62D1A7-8F51-4480-8731-7B1A5207894D}"/>
              </a:ext>
            </a:extLst>
          </p:cNvPr>
          <p:cNvSpPr>
            <a:spLocks noGrp="1"/>
          </p:cNvSpPr>
          <p:nvPr/>
        </p:nvSpPr>
        <p:spPr>
          <a:xfrm>
            <a:off x="6191250" y="32766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1">
                <a:solidFill>
                  <a:srgbClr val="F5F3E9"/>
                </a:solidFill>
                <a:cs typeface="B Nazanin" panose="00000400000000000000" pitchFamily="2" charset="-78"/>
              </a:rPr>
              <a:t>ثبت محصول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E308EF6-93A4-4334-975E-064562826A4B}"/>
              </a:ext>
            </a:extLst>
          </p:cNvPr>
          <p:cNvSpPr>
            <a:spLocks noGrp="1"/>
          </p:cNvSpPr>
          <p:nvPr/>
        </p:nvSpPr>
        <p:spPr>
          <a:xfrm>
            <a:off x="6191250" y="4143375"/>
            <a:ext cx="2571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مشخصات محصول</a:t>
            </a:r>
          </a:p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و شرایط عرضه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BB8D442-F4D5-4A23-9A09-D75403C7EE8C}"/>
              </a:ext>
            </a:extLst>
          </p:cNvPr>
          <p:cNvSpPr>
            <a:spLocks noGrp="1"/>
          </p:cNvSpPr>
          <p:nvPr/>
        </p:nvSpPr>
        <p:spPr>
          <a:xfrm>
            <a:off x="3381375" y="2028825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cs typeface="B Nazanin" panose="00000400000000000000" pitchFamily="2" charset="-78"/>
              </a:rPr>
              <a:t>03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591BCC2-0CE4-41E8-A233-1C77A98F54C7}"/>
              </a:ext>
            </a:extLst>
          </p:cNvPr>
          <p:cNvSpPr>
            <a:spLocks noGrp="1"/>
          </p:cNvSpPr>
          <p:nvPr/>
        </p:nvSpPr>
        <p:spPr>
          <a:xfrm>
            <a:off x="3381375" y="32766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1">
                <a:solidFill>
                  <a:srgbClr val="F5F3E9"/>
                </a:solidFill>
                <a:cs typeface="B Nazanin" panose="00000400000000000000" pitchFamily="2" charset="-78"/>
              </a:rPr>
              <a:t>بررسی و انتشار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550966FE-26F5-49B8-800B-D0D4D16CD53A}"/>
              </a:ext>
            </a:extLst>
          </p:cNvPr>
          <p:cNvSpPr>
            <a:spLocks noGrp="1"/>
          </p:cNvSpPr>
          <p:nvPr/>
        </p:nvSpPr>
        <p:spPr>
          <a:xfrm>
            <a:off x="3381375" y="4143375"/>
            <a:ext cx="2571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تأیید تأمین‌کننده</a:t>
            </a:r>
          </a:p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و بررسی آگهی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591C784-5D74-4D4F-8290-7300D5F09A19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257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54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5400" b="0">
                <a:solidFill>
                  <a:srgbClr val="B6CA86"/>
                </a:solidFill>
                <a:cs typeface="B Nazanin" panose="00000400000000000000" pitchFamily="2" charset="-78"/>
              </a:rPr>
              <a:t>04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460B604-F770-4149-9D27-31494DCF1C80}"/>
              </a:ext>
            </a:extLst>
          </p:cNvPr>
          <p:cNvSpPr>
            <a:spLocks noGrp="1"/>
          </p:cNvSpPr>
          <p:nvPr/>
        </p:nvSpPr>
        <p:spPr>
          <a:xfrm>
            <a:off x="571500" y="3276600"/>
            <a:ext cx="2571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1">
                <a:solidFill>
                  <a:srgbClr val="F5F3E9"/>
                </a:solidFill>
                <a:cs typeface="B Nazanin" panose="00000400000000000000" pitchFamily="2" charset="-78"/>
              </a:rPr>
              <a:t>رزرو موقت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BC553DD-4241-4C7E-A069-48308776166A}"/>
              </a:ext>
            </a:extLst>
          </p:cNvPr>
          <p:cNvSpPr>
            <a:spLocks noGrp="1"/>
          </p:cNvSpPr>
          <p:nvPr/>
        </p:nvSpPr>
        <p:spPr>
          <a:xfrm>
            <a:off x="571500" y="4143375"/>
            <a:ext cx="2571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انتخاب مقدار</a:t>
            </a:r>
          </a:p>
          <a:p>
            <a:pPr algn="r" rtl="1">
              <a:defRPr sz="1950" b="0">
                <a:solidFill>
                  <a:srgbClr val="D0DDC5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D0DDC5"/>
                </a:solidFill>
                <a:cs typeface="B Nazanin" panose="00000400000000000000" pitchFamily="2" charset="-78"/>
              </a:rPr>
              <a:t>از موجودی آزاد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6D568CC-9E48-4111-995F-CD1FA35A61C7}"/>
              </a:ext>
            </a:extLst>
          </p:cNvPr>
          <p:cNvSpPr>
            <a:spLocks noGrp="1"/>
          </p:cNvSpPr>
          <p:nvPr/>
        </p:nvSpPr>
        <p:spPr>
          <a:xfrm>
            <a:off x="1619250" y="5762625"/>
            <a:ext cx="9953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DCC39A"/>
                </a:solidFill>
                <a:cs typeface="B Nazanin" panose="00000400000000000000" pitchFamily="2" charset="-78"/>
              </a:rPr>
              <a:t>رزرو در نسخهٔ فعلی، نگهداشت موقت موجودی است</a:t>
            </a:r>
          </a:p>
        </p:txBody>
      </p:sp>
    </p:spTree>
    <p:extLst>
      <p:ext uri="{BB962C8B-B14F-4D97-AF65-F5344CB8AC3E}">
        <p14:creationId xmlns:p14="http://schemas.microsoft.com/office/powerpoint/2010/main" val="151451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and-footer">
            <a:extLst>
              <a:ext uri="{FF2B5EF4-FFF2-40B4-BE49-F238E27FC236}">
                <a16:creationId xmlns:a16="http://schemas.microsoft.com/office/drawing/2014/main" id="{C7FA6ECF-4206-4B59-9C15-17176C43803C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F14122B8-8EE6-4F9F-ADC9-3844BF7EF63F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05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A26505B3-14D3-4E46-8496-C0023678B974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6B786B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422F8A24-357C-4238-962F-3A0AD0DFC90D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193B2D"/>
                </a:solidFill>
                <a:cs typeface="B Nazanin" panose="00000400000000000000" pitchFamily="2" charset="-78"/>
              </a:rPr>
              <a:t>پنل کشاورز، نمای روشن عملیات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1B01F-8E9C-419C-A493-85F2899FD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524000"/>
            <a:ext cx="7696200" cy="4810125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BBECB631-AF29-4C0C-9E1F-599F253B38EE}"/>
              </a:ext>
            </a:extLst>
          </p:cNvPr>
          <p:cNvSpPr>
            <a:spLocks noGrp="1"/>
          </p:cNvSpPr>
          <p:nvPr/>
        </p:nvSpPr>
        <p:spPr>
          <a:xfrm>
            <a:off x="8953500" y="1876425"/>
            <a:ext cx="2714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250" b="1">
                <a:solidFill>
                  <a:srgbClr val="193B2D"/>
                </a:solidFill>
                <a:cs typeface="B Nazanin" panose="00000400000000000000" pitchFamily="2" charset="-78"/>
              </a:rPr>
              <a:t>نمای موجودی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4D2FCA0-293A-42C5-9D89-7FD3DFE48E47}"/>
              </a:ext>
            </a:extLst>
          </p:cNvPr>
          <p:cNvSpPr>
            <a:spLocks noGrp="1"/>
          </p:cNvSpPr>
          <p:nvPr/>
        </p:nvSpPr>
        <p:spPr>
          <a:xfrm>
            <a:off x="8953500" y="2447925"/>
            <a:ext cx="271462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نمای کلی عرضه‌ها</a:t>
            </a:r>
          </a:p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و موجودی آزاد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717254F-0695-480A-B961-0B6ABDAB492B}"/>
              </a:ext>
            </a:extLst>
          </p:cNvPr>
          <p:cNvSpPr>
            <a:spLocks noGrp="1"/>
          </p:cNvSpPr>
          <p:nvPr/>
        </p:nvSpPr>
        <p:spPr>
          <a:xfrm>
            <a:off x="8953500" y="4143375"/>
            <a:ext cx="2714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250" b="1">
                <a:solidFill>
                  <a:srgbClr val="193B2D"/>
                </a:solidFill>
                <a:cs typeface="B Nazanin" panose="00000400000000000000" pitchFamily="2" charset="-78"/>
              </a:rPr>
              <a:t>پیگیری فعالیت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C2491AB-E2A7-4678-9072-9F1BD172AF89}"/>
              </a:ext>
            </a:extLst>
          </p:cNvPr>
          <p:cNvSpPr>
            <a:spLocks noGrp="1"/>
          </p:cNvSpPr>
          <p:nvPr/>
        </p:nvSpPr>
        <p:spPr>
          <a:xfrm>
            <a:off x="8953500" y="4714875"/>
            <a:ext cx="271462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وضعیت آگهی‌ها</a:t>
            </a:r>
          </a:p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و درخواست‌های ورودی</a:t>
            </a:r>
          </a:p>
        </p:txBody>
      </p:sp>
    </p:spTree>
    <p:extLst>
      <p:ext uri="{BB962C8B-B14F-4D97-AF65-F5344CB8AC3E}">
        <p14:creationId xmlns:p14="http://schemas.microsoft.com/office/powerpoint/2010/main" val="54685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rand-footer">
            <a:extLst>
              <a:ext uri="{FF2B5EF4-FFF2-40B4-BE49-F238E27FC236}">
                <a16:creationId xmlns:a16="http://schemas.microsoft.com/office/drawing/2014/main" id="{3425597E-A8B2-4623-BA44-E31AC87B2A42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8999E271-8B2C-43AF-A1DB-45C8D948173B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06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FBFF4A06-5102-436F-BD78-8800AF44FFCB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C3CFBA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F5453C6A-CD45-41AA-B14F-44AA633453F2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F5F3E9"/>
                </a:solidFill>
                <a:cs typeface="B Nazanin" panose="00000400000000000000" pitchFamily="2" charset="-78"/>
              </a:rPr>
              <a:t>ثبت محصول، مرحله‌به‌مرحله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38149-B3D4-41C9-BE3A-BF0442A32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085" y="1409700"/>
            <a:ext cx="6583579" cy="4981575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27312AA9-4F8E-4551-BA07-419B3B399979}"/>
              </a:ext>
            </a:extLst>
          </p:cNvPr>
          <p:cNvSpPr>
            <a:spLocks noGrp="1"/>
          </p:cNvSpPr>
          <p:nvPr/>
        </p:nvSpPr>
        <p:spPr>
          <a:xfrm>
            <a:off x="8048625" y="1809750"/>
            <a:ext cx="3619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fa-IR" sz="2700" b="1">
                <a:solidFill>
                  <a:srgbClr val="B6CA86"/>
                </a:solidFill>
                <a:cs typeface="B Nazanin" panose="00000400000000000000" pitchFamily="2" charset="-78"/>
              </a:rPr>
              <a:t>جزئیات عرضه</a:t>
            </a:r>
          </a:p>
          <a:p>
            <a:pPr algn="r" rtl="1">
              <a:defRPr sz="27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fa-IR" sz="2700" b="1">
                <a:solidFill>
                  <a:srgbClr val="B6CA86"/>
                </a:solidFill>
                <a:cs typeface="B Nazanin" panose="00000400000000000000" pitchFamily="2" charset="-78"/>
              </a:rPr>
              <a:t>پیش از انتشار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7BFC325-C3E6-4577-8EF9-7DD9DDEA74AB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6195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F5F3E9"/>
                </a:solidFill>
                <a:cs typeface="B Nazanin" panose="00000400000000000000" pitchFamily="2" charset="-78"/>
              </a:rPr>
              <a:t>کیفیت و مبدأ محصول</a:t>
            </a:r>
          </a:p>
          <a:p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F5F3E9"/>
                </a:solidFill>
                <a:cs typeface="B Nazanin" panose="00000400000000000000" pitchFamily="2" charset="-78"/>
              </a:rPr>
              <a:t>مقدار و حداقل سفارش</a:t>
            </a:r>
          </a:p>
          <a:p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F5F3E9"/>
                </a:solidFill>
                <a:cs typeface="B Nazanin" panose="00000400000000000000" pitchFamily="2" charset="-78"/>
              </a:rPr>
              <a:t>بسته‌بندی و شرایط عرضه</a:t>
            </a:r>
          </a:p>
          <a:p>
            <a:pPr algn="r" rtl="1">
              <a:defRPr sz="202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F5F3E9"/>
                </a:solidFill>
                <a:cs typeface="B Nazanin" panose="00000400000000000000" pitchFamily="2" charset="-78"/>
              </a:rPr>
              <a:t>ذخیرهٔ پیش‌نویس</a:t>
            </a:r>
          </a:p>
        </p:txBody>
      </p:sp>
    </p:spTree>
    <p:extLst>
      <p:ext uri="{BB962C8B-B14F-4D97-AF65-F5344CB8AC3E}">
        <p14:creationId xmlns:p14="http://schemas.microsoft.com/office/powerpoint/2010/main" val="197854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and-footer">
            <a:extLst>
              <a:ext uri="{FF2B5EF4-FFF2-40B4-BE49-F238E27FC236}">
                <a16:creationId xmlns:a16="http://schemas.microsoft.com/office/drawing/2014/main" id="{97527147-37EB-486D-BBB8-F59437F9C445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07FB935C-2F02-4537-BE4F-7B391464D346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07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29171E29-2928-46C5-A08B-DBCD4DD13E05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6B786B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D5E5FA53-9C1A-4173-86D1-D373AC5F3FC9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193B2D"/>
                </a:solidFill>
                <a:cs typeface="B Nazanin" panose="00000400000000000000" pitchFamily="2" charset="-78"/>
              </a:rPr>
              <a:t>موجودی با تفکیک قابل پیگیری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886E283-4B7A-4E40-8188-4AA2D2066527}"/>
              </a:ext>
            </a:extLst>
          </p:cNvPr>
          <p:cNvSpPr>
            <a:spLocks noGrp="1"/>
          </p:cNvSpPr>
          <p:nvPr/>
        </p:nvSpPr>
        <p:spPr>
          <a:xfrm>
            <a:off x="8143875" y="1619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9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925" b="1">
                <a:solidFill>
                  <a:srgbClr val="193B2D"/>
                </a:solidFill>
                <a:cs typeface="B Nazanin" panose="00000400000000000000" pitchFamily="2" charset="-78"/>
              </a:rPr>
              <a:t>آزاد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E7F7086-9851-42F7-B2FB-C48A92362933}"/>
              </a:ext>
            </a:extLst>
          </p:cNvPr>
          <p:cNvSpPr>
            <a:spLocks noGrp="1"/>
          </p:cNvSpPr>
          <p:nvPr/>
        </p:nvSpPr>
        <p:spPr>
          <a:xfrm>
            <a:off x="4381500" y="1619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925" b="1">
                <a:solidFill>
                  <a:srgbClr val="819C59"/>
                </a:solidFill>
                <a:latin typeface="Tahoma"/>
                <a:ea typeface="Tahoma"/>
                <a:cs typeface="Tahoma"/>
              </a:defRPr>
            </a:pPr>
            <a:r>
              <a:rPr lang="fa-IR" sz="2925" b="1">
                <a:solidFill>
                  <a:srgbClr val="819C59"/>
                </a:solidFill>
                <a:cs typeface="B Nazanin" panose="00000400000000000000" pitchFamily="2" charset="-78"/>
              </a:rPr>
              <a:t>رزروشده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181E548-9E58-45F1-909E-BD3687D8B7BC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925" b="1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925" b="1">
                <a:solidFill>
                  <a:srgbClr val="6B786B"/>
                </a:solidFill>
                <a:cs typeface="B Nazanin" panose="00000400000000000000" pitchFamily="2" charset="-78"/>
              </a:rPr>
              <a:t>تخصیص‌یافته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9EC5DB-89EA-43B1-92DF-328311F44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4754" y="2667000"/>
            <a:ext cx="9622491" cy="2952750"/>
          </a:xfrm>
          <a:prstGeom prst="rect">
            <a:avLst/>
          </a:prstGeom>
        </p:spPr>
      </p:pic>
      <p:sp>
        <p:nvSpPr>
          <p:cNvPr id="9" name="text">
            <a:extLst>
              <a:ext uri="{FF2B5EF4-FFF2-40B4-BE49-F238E27FC236}">
                <a16:creationId xmlns:a16="http://schemas.microsoft.com/office/drawing/2014/main" id="{DD186844-AC18-4D88-9D47-2B9BFF350CA8}"/>
              </a:ext>
            </a:extLst>
          </p:cNvPr>
          <p:cNvSpPr>
            <a:spLocks noGrp="1"/>
          </p:cNvSpPr>
          <p:nvPr/>
        </p:nvSpPr>
        <p:spPr>
          <a:xfrm>
            <a:off x="2095500" y="5895975"/>
            <a:ext cx="9477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0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00" b="0">
                <a:solidFill>
                  <a:srgbClr val="6B786B"/>
                </a:solidFill>
                <a:cs typeface="B Nazanin" panose="00000400000000000000" pitchFamily="2" charset="-78"/>
              </a:rPr>
              <a:t>نمایش وضعیت موجودی و دسترسی به سوابق گردش</a:t>
            </a:r>
          </a:p>
        </p:txBody>
      </p:sp>
    </p:spTree>
    <p:extLst>
      <p:ext uri="{BB962C8B-B14F-4D97-AF65-F5344CB8AC3E}">
        <p14:creationId xmlns:p14="http://schemas.microsoft.com/office/powerpoint/2010/main" val="364662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and-footer">
            <a:extLst>
              <a:ext uri="{FF2B5EF4-FFF2-40B4-BE49-F238E27FC236}">
                <a16:creationId xmlns:a16="http://schemas.microsoft.com/office/drawing/2014/main" id="{26ED9D35-D103-46CE-B9F8-ABECBCD526EB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22DBBD22-8A4E-4899-94EA-D0C266DE5939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08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2CCFCB66-0127-4222-9EB9-1B094754B23D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6B786B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A6D4CCF9-F8D4-4659-867B-7139FEDE7725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193B2D"/>
                </a:solidFill>
                <a:cs typeface="B Nazanin" panose="00000400000000000000" pitchFamily="2" charset="-78"/>
              </a:rPr>
              <a:t>کشف عرضه‌های بررسی‌شده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F54B8-5D95-4409-B622-D396E094B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0934" y="1476375"/>
            <a:ext cx="7105006" cy="4762500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B46E7B10-D744-40A0-B76B-40CE5FDD50E0}"/>
              </a:ext>
            </a:extLst>
          </p:cNvPr>
          <p:cNvSpPr>
            <a:spLocks noGrp="1"/>
          </p:cNvSpPr>
          <p:nvPr/>
        </p:nvSpPr>
        <p:spPr>
          <a:xfrm>
            <a:off x="9096375" y="1762125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250" b="1">
                <a:solidFill>
                  <a:srgbClr val="193B2D"/>
                </a:solidFill>
                <a:cs typeface="B Nazanin" panose="00000400000000000000" pitchFamily="2" charset="-78"/>
              </a:rPr>
              <a:t>جست‌وجو و فیلتر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D0B6574-412E-48BE-BF17-083F706BB261}"/>
              </a:ext>
            </a:extLst>
          </p:cNvPr>
          <p:cNvSpPr>
            <a:spLocks noGrp="1"/>
          </p:cNvSpPr>
          <p:nvPr/>
        </p:nvSpPr>
        <p:spPr>
          <a:xfrm>
            <a:off x="9096375" y="2333625"/>
            <a:ext cx="2571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انتخاب محصول</a:t>
            </a:r>
          </a:p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براساس نیاز خریدار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A5C19CB-7B83-4CA4-B8EC-BE8B214490AC}"/>
              </a:ext>
            </a:extLst>
          </p:cNvPr>
          <p:cNvSpPr>
            <a:spLocks noGrp="1"/>
          </p:cNvSpPr>
          <p:nvPr/>
        </p:nvSpPr>
        <p:spPr>
          <a:xfrm>
            <a:off x="9096375" y="400050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250" b="1">
                <a:solidFill>
                  <a:srgbClr val="193B2D"/>
                </a:solidFill>
                <a:cs typeface="B Nazanin" panose="00000400000000000000" pitchFamily="2" charset="-78"/>
              </a:rPr>
              <a:t>جزئیات عرضه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A9B1739-6992-4A68-92A9-9B511E667C56}"/>
              </a:ext>
            </a:extLst>
          </p:cNvPr>
          <p:cNvSpPr>
            <a:spLocks noGrp="1"/>
          </p:cNvSpPr>
          <p:nvPr/>
        </p:nvSpPr>
        <p:spPr>
          <a:xfrm>
            <a:off x="9096375" y="4572000"/>
            <a:ext cx="2571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موجودی آزاد</a:t>
            </a:r>
          </a:p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و حداقل سفارش</a:t>
            </a:r>
          </a:p>
        </p:txBody>
      </p:sp>
    </p:spTree>
    <p:extLst>
      <p:ext uri="{BB962C8B-B14F-4D97-AF65-F5344CB8AC3E}">
        <p14:creationId xmlns:p14="http://schemas.microsoft.com/office/powerpoint/2010/main" val="141254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and-footer">
            <a:extLst>
              <a:ext uri="{FF2B5EF4-FFF2-40B4-BE49-F238E27FC236}">
                <a16:creationId xmlns:a16="http://schemas.microsoft.com/office/drawing/2014/main" id="{ED4A8868-2C11-4C70-A1D5-CECF2AADEFDA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49CACB13-BD10-4BAD-AF80-E417C8C7DABE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09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22B6B26C-778C-448D-966D-9A9C4262C7C8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C3CFBA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81DDA30E-09CB-468E-A1BB-E748EC748508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F5F3E9"/>
                </a:solidFill>
                <a:cs typeface="B Nazanin" panose="00000400000000000000" pitchFamily="2" charset="-78"/>
              </a:rPr>
              <a:t>رزرو موقت برای بررسی بیشتر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1E151-484A-45C8-9D23-4AB50BA3C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6946" y="1619250"/>
            <a:ext cx="5683358" cy="4191000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74ACFD8B-751C-4CF2-8267-6E7321ABBDF4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3190875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9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fa-IR" sz="9750" b="1">
                <a:solidFill>
                  <a:srgbClr val="B6CA86"/>
                </a:solidFill>
                <a:cs typeface="B Nazanin" panose="00000400000000000000" pitchFamily="2" charset="-78"/>
              </a:rPr>
              <a:t>۳۰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3616A7A-0A90-4985-8609-CA7672BC1EA7}"/>
              </a:ext>
            </a:extLst>
          </p:cNvPr>
          <p:cNvSpPr>
            <a:spLocks noGrp="1"/>
          </p:cNvSpPr>
          <p:nvPr/>
        </p:nvSpPr>
        <p:spPr>
          <a:xfrm>
            <a:off x="8382000" y="3381375"/>
            <a:ext cx="3190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225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225" b="1">
                <a:solidFill>
                  <a:srgbClr val="F5F3E9"/>
                </a:solidFill>
                <a:cs typeface="B Nazanin" panose="00000400000000000000" pitchFamily="2" charset="-78"/>
              </a:rPr>
              <a:t>دقیقه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A8E1053-BD5C-4DE2-B4F5-0B7DA9896A7D}"/>
              </a:ext>
            </a:extLst>
          </p:cNvPr>
          <p:cNvSpPr>
            <a:spLocks noGrp="1"/>
          </p:cNvSpPr>
          <p:nvPr/>
        </p:nvSpPr>
        <p:spPr>
          <a:xfrm>
            <a:off x="8286750" y="4200525"/>
            <a:ext cx="3286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00" b="0">
                <a:solidFill>
                  <a:srgbClr val="F5F3E9"/>
                </a:solidFill>
                <a:cs typeface="B Nazanin" panose="00000400000000000000" pitchFamily="2" charset="-78"/>
              </a:rPr>
              <a:t>انتخاب مقدار مشخص</a:t>
            </a:r>
          </a:p>
          <a:p>
            <a:pPr algn="r" rtl="1">
              <a:defRPr sz="210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00" b="0">
                <a:solidFill>
                  <a:srgbClr val="F5F3E9"/>
                </a:solidFill>
                <a:cs typeface="B Nazanin" panose="00000400000000000000" pitchFamily="2" charset="-78"/>
              </a:rPr>
              <a:t>از موجودی آزاد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DC454E6-E3B5-4A02-A933-C3936E371511}"/>
              </a:ext>
            </a:extLst>
          </p:cNvPr>
          <p:cNvSpPr>
            <a:spLocks noGrp="1"/>
          </p:cNvSpPr>
          <p:nvPr/>
        </p:nvSpPr>
        <p:spPr>
          <a:xfrm>
            <a:off x="1809750" y="5924550"/>
            <a:ext cx="976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lang="fa-IR" sz="1800" b="0">
                <a:solidFill>
                  <a:srgbClr val="DCC39A"/>
                </a:solidFill>
                <a:cs typeface="B Nazanin" panose="00000400000000000000" pitchFamily="2" charset="-78"/>
              </a:rPr>
              <a:t>رزرو به معنی خرید، پرداخت یا انتقال مالکیت نیست</a:t>
            </a:r>
          </a:p>
        </p:txBody>
      </p:sp>
    </p:spTree>
    <p:extLst>
      <p:ext uri="{BB962C8B-B14F-4D97-AF65-F5344CB8AC3E}">
        <p14:creationId xmlns:p14="http://schemas.microsoft.com/office/powerpoint/2010/main" val="45732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rand-footer">
            <a:extLst>
              <a:ext uri="{FF2B5EF4-FFF2-40B4-BE49-F238E27FC236}">
                <a16:creationId xmlns:a16="http://schemas.microsoft.com/office/drawing/2014/main" id="{665182CC-F7B1-40E5-ACC7-F229E77B442E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A6D1A4DE-98FC-4FA5-8906-4BFA3EDF305B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10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CD413EF4-FC66-46B9-9C6E-F21BC530E11C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6B786B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3C61FA7E-63BF-4EE9-B60C-BADED5EE3718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193B2D"/>
                </a:solidFill>
                <a:cs typeface="B Nazanin" panose="00000400000000000000" pitchFamily="2" charset="-78"/>
              </a:rPr>
              <a:t>مشتری و فرصت، در یک مسیر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3BEF77D-A4F5-4CF6-B1F3-7F812B6EC4EA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950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950" b="0">
                <a:solidFill>
                  <a:srgbClr val="6B786B"/>
                </a:solidFill>
                <a:cs typeface="B Nazanin" panose="00000400000000000000" pitchFamily="2" charset="-78"/>
              </a:rPr>
              <a:t>ثبت مشتریان سازمان و پیگیری اقدام بعدی هر فرصت تجاری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FAD7B-2A45-42CD-A368-FDC1BD050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07288" y="2095500"/>
            <a:ext cx="8577423" cy="3619500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21A3A3F9-3D6C-49D2-A709-9B99CD887096}"/>
              </a:ext>
            </a:extLst>
          </p:cNvPr>
          <p:cNvSpPr>
            <a:spLocks noGrp="1"/>
          </p:cNvSpPr>
          <p:nvPr/>
        </p:nvSpPr>
        <p:spPr>
          <a:xfrm>
            <a:off x="1524000" y="5905500"/>
            <a:ext cx="10144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00" b="0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1800" b="0">
                <a:solidFill>
                  <a:srgbClr val="193B2D"/>
                </a:solidFill>
                <a:cs typeface="B Nazanin" panose="00000400000000000000" pitchFamily="2" charset="-78"/>
              </a:rPr>
              <a:t>مرحله‌های فرصت تجاری، وضعیت قرارداد یا خرید نیستند</a:t>
            </a:r>
          </a:p>
        </p:txBody>
      </p:sp>
    </p:spTree>
    <p:extLst>
      <p:ext uri="{BB962C8B-B14F-4D97-AF65-F5344CB8AC3E}">
        <p14:creationId xmlns:p14="http://schemas.microsoft.com/office/powerpoint/2010/main" val="62064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rand-footer">
            <a:extLst>
              <a:ext uri="{FF2B5EF4-FFF2-40B4-BE49-F238E27FC236}">
                <a16:creationId xmlns:a16="http://schemas.microsoft.com/office/drawing/2014/main" id="{2800878E-4ECD-4ABA-8B32-F77A8A88B565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141D9877-01CA-4702-B969-538B4903E545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11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21FB1DBA-4797-44EA-AC4C-3F39B6278DCE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6B786B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3432D222-83F9-4047-8CB9-8F452C87A819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193B2D"/>
                </a:solidFill>
                <a:cs typeface="B Nazanin" panose="00000400000000000000" pitchFamily="2" charset="-78"/>
              </a:rPr>
              <a:t>اعتماد با بررسی سازمان و آگهی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0404E-BFB3-4E0B-95C9-BD1137353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2975" y="1571625"/>
            <a:ext cx="7162800" cy="4476750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144EF158-04D5-41EC-BDAB-32BE7B208C7B}"/>
              </a:ext>
            </a:extLst>
          </p:cNvPr>
          <p:cNvSpPr>
            <a:spLocks noGrp="1"/>
          </p:cNvSpPr>
          <p:nvPr/>
        </p:nvSpPr>
        <p:spPr>
          <a:xfrm>
            <a:off x="8810625" y="1857375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250" b="1">
                <a:solidFill>
                  <a:srgbClr val="193B2D"/>
                </a:solidFill>
                <a:cs typeface="B Nazanin" panose="00000400000000000000" pitchFamily="2" charset="-78"/>
              </a:rPr>
              <a:t>احراز سازمان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4789518-FEBA-4471-8DE1-4E53598797AC}"/>
              </a:ext>
            </a:extLst>
          </p:cNvPr>
          <p:cNvSpPr>
            <a:spLocks noGrp="1"/>
          </p:cNvSpPr>
          <p:nvPr/>
        </p:nvSpPr>
        <p:spPr>
          <a:xfrm>
            <a:off x="8810625" y="2428875"/>
            <a:ext cx="2857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ثبت دلیل</a:t>
            </a:r>
          </a:p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و شواهد بررسی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386398B-6AD8-4AA9-AD72-0D9D52853035}"/>
              </a:ext>
            </a:extLst>
          </p:cNvPr>
          <p:cNvSpPr>
            <a:spLocks noGrp="1"/>
          </p:cNvSpPr>
          <p:nvPr/>
        </p:nvSpPr>
        <p:spPr>
          <a:xfrm>
            <a:off x="8810625" y="4029075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25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250" b="1">
                <a:solidFill>
                  <a:srgbClr val="193B2D"/>
                </a:solidFill>
                <a:cs typeface="B Nazanin" panose="00000400000000000000" pitchFamily="2" charset="-78"/>
              </a:rPr>
              <a:t>انتشار محصول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70A6768-C6F0-43DA-849E-BEAAE4020900}"/>
              </a:ext>
            </a:extLst>
          </p:cNvPr>
          <p:cNvSpPr>
            <a:spLocks noGrp="1"/>
          </p:cNvSpPr>
          <p:nvPr/>
        </p:nvSpPr>
        <p:spPr>
          <a:xfrm>
            <a:off x="8810625" y="4600575"/>
            <a:ext cx="2857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بررسی آگهی</a:t>
            </a:r>
          </a:p>
          <a:p>
            <a:pPr algn="r" rtl="1">
              <a:defRPr sz="18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875" b="0">
                <a:solidFill>
                  <a:srgbClr val="6B786B"/>
                </a:solidFill>
                <a:cs typeface="B Nazanin" panose="00000400000000000000" pitchFamily="2" charset="-78"/>
              </a:rPr>
              <a:t>توسط مدیر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AD4A858-4B74-4862-9128-07091284A011}"/>
              </a:ext>
            </a:extLst>
          </p:cNvPr>
          <p:cNvSpPr>
            <a:spLocks noGrp="1"/>
          </p:cNvSpPr>
          <p:nvPr/>
        </p:nvSpPr>
        <p:spPr>
          <a:xfrm>
            <a:off x="1524000" y="6048375"/>
            <a:ext cx="10144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57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1575" b="0">
                <a:solidFill>
                  <a:srgbClr val="6B786B"/>
                </a:solidFill>
                <a:cs typeface="B Nazanin" panose="00000400000000000000" pitchFamily="2" charset="-78"/>
              </a:rPr>
              <a:t>شواهد فعلی به‌صورت ارجاع متنی ثبت می‌شوند</a:t>
            </a:r>
          </a:p>
        </p:txBody>
      </p:sp>
    </p:spTree>
    <p:extLst>
      <p:ext uri="{BB962C8B-B14F-4D97-AF65-F5344CB8AC3E}">
        <p14:creationId xmlns:p14="http://schemas.microsoft.com/office/powerpoint/2010/main" val="46643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rand-footer">
            <a:extLst>
              <a:ext uri="{FF2B5EF4-FFF2-40B4-BE49-F238E27FC236}">
                <a16:creationId xmlns:a16="http://schemas.microsoft.com/office/drawing/2014/main" id="{728F3EA6-BEC3-4221-B4CD-C798B1B65DC3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63032294-94AE-45FB-8F7F-4823637E31D4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12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750FA070-FECC-4D67-B0D8-107492086929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F5F3E9"/>
                </a:solidFill>
                <a:cs typeface="B Nazanin" panose="00000400000000000000" pitchFamily="2" charset="-78"/>
              </a:rPr>
              <a:t>رابط چندزبانه برای ارتباط گسترده‌تر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BEA3303-525C-46F9-AE6E-945F86E98370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00050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ctr" rtl="1">
              <a:defRPr sz="157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fa-IR" sz="15750" b="1">
                <a:solidFill>
                  <a:srgbClr val="B6CA86"/>
                </a:solidFill>
                <a:cs typeface="B Nazanin" panose="00000400000000000000" pitchFamily="2" charset="-78"/>
              </a:rPr>
              <a:t>۱۰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30FD22F-3D18-40B0-8497-FB13F5D51E10}"/>
              </a:ext>
            </a:extLst>
          </p:cNvPr>
          <p:cNvSpPr>
            <a:spLocks noGrp="1"/>
          </p:cNvSpPr>
          <p:nvPr/>
        </p:nvSpPr>
        <p:spPr>
          <a:xfrm>
            <a:off x="762000" y="4276725"/>
            <a:ext cx="381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ctr" rtl="1">
              <a:defRPr sz="2850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850" b="0">
                <a:solidFill>
                  <a:srgbClr val="F5F3E9"/>
                </a:solidFill>
                <a:cs typeface="B Nazanin" panose="00000400000000000000" pitchFamily="2" charset="-78"/>
              </a:rPr>
              <a:t>زبان فعال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6468BF9-E8D9-4278-B287-6B353C9438EC}"/>
              </a:ext>
            </a:extLst>
          </p:cNvPr>
          <p:cNvSpPr>
            <a:spLocks noGrp="1"/>
          </p:cNvSpPr>
          <p:nvPr/>
        </p:nvSpPr>
        <p:spPr>
          <a:xfrm>
            <a:off x="8810625" y="1828800"/>
            <a:ext cx="2762250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فارسی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انگلیسی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پرتغالی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روسی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چینی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D860905-ED0D-4B8B-AA6B-CE37A8E216A6}"/>
              </a:ext>
            </a:extLst>
          </p:cNvPr>
          <p:cNvSpPr>
            <a:spLocks noGrp="1"/>
          </p:cNvSpPr>
          <p:nvPr/>
        </p:nvSpPr>
        <p:spPr>
          <a:xfrm>
            <a:off x="5619750" y="1828800"/>
            <a:ext cx="2619375" cy="30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هندی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عربی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امهری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اندونزیایی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زولو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417811D-B438-4619-B74A-B3C5777D1AA2}"/>
              </a:ext>
            </a:extLst>
          </p:cNvPr>
          <p:cNvSpPr>
            <a:spLocks noGrp="1"/>
          </p:cNvSpPr>
          <p:nvPr/>
        </p:nvSpPr>
        <p:spPr>
          <a:xfrm>
            <a:off x="3810000" y="5562600"/>
            <a:ext cx="7762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lang="fa-IR" sz="1800" b="0">
                <a:solidFill>
                  <a:srgbClr val="DCC39A"/>
                </a:solidFill>
                <a:cs typeface="B Nazanin" panose="00000400000000000000" pitchFamily="2" charset="-78"/>
              </a:rPr>
              <a:t>لندینگ و خطاها در هر ۱۰ زبان ترجمه 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188884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rand-footer">
            <a:extLst>
              <a:ext uri="{FF2B5EF4-FFF2-40B4-BE49-F238E27FC236}">
                <a16:creationId xmlns:a16="http://schemas.microsoft.com/office/drawing/2014/main" id="{35EBC350-3B71-47C1-80A1-0EED36AB0BA0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9FA2ADBD-BBCA-417D-B388-2EB8B480FEC4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13</a:t>
            </a:r>
          </a:p>
        </p:txBody>
      </p:sp>
      <p:sp>
        <p:nvSpPr>
          <p:cNvPr id="3" name="sample-disclosure">
            <a:extLst>
              <a:ext uri="{FF2B5EF4-FFF2-40B4-BE49-F238E27FC236}">
                <a16:creationId xmlns:a16="http://schemas.microsoft.com/office/drawing/2014/main" id="{E278DF81-1D14-4A28-904B-90F49325ED8B}"/>
              </a:ext>
            </a:extLst>
          </p:cNvPr>
          <p:cNvSpPr>
            <a:spLocks noGrp="1"/>
          </p:cNvSpPr>
          <p:nvPr/>
        </p:nvSpPr>
        <p:spPr>
          <a:xfrm>
            <a:off x="6953250" y="646747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125" b="0">
                <a:solidFill>
                  <a:srgbClr val="C3CFBA"/>
                </a:solidFill>
                <a:latin typeface="Tahoma"/>
                <a:ea typeface="Tahoma"/>
                <a:cs typeface="Tahoma"/>
              </a:defRPr>
            </a:pPr>
            <a:r>
              <a:rPr lang="fa-IR" sz="1125" b="0">
                <a:solidFill>
                  <a:srgbClr val="C3CFBA"/>
                </a:solidFill>
                <a:cs typeface="B Nazanin" panose="00000400000000000000" pitchFamily="2" charset="-78"/>
              </a:rPr>
              <a:t>تصویر محصول با دادهٔ نمایشی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4EBE7F73-9442-4401-AE7C-73299129BD7D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F5F3E9"/>
                </a:solidFill>
                <a:cs typeface="B Nazanin" panose="00000400000000000000" pitchFamily="2" charset="-78"/>
              </a:rPr>
              <a:t>یک محصول، چند شیوهٔ استفاده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F99ACE-2134-4E2F-8E3D-DF31EA2A7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8725" y="1571625"/>
            <a:ext cx="6781800" cy="423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0C2637-1129-47F5-BDF4-E295DF0B0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29750" y="1382346"/>
            <a:ext cx="2190750" cy="4741008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C603B033-2F36-4C75-894A-17F483CF090E}"/>
              </a:ext>
            </a:extLst>
          </p:cNvPr>
          <p:cNvSpPr>
            <a:spLocks noGrp="1"/>
          </p:cNvSpPr>
          <p:nvPr/>
        </p:nvSpPr>
        <p:spPr>
          <a:xfrm>
            <a:off x="952500" y="593407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00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fa-IR" sz="1800" b="0">
                <a:solidFill>
                  <a:srgbClr val="B6CA86"/>
                </a:solidFill>
                <a:cs typeface="B Nazanin" panose="00000400000000000000" pitchFamily="2" charset="-78"/>
              </a:rPr>
              <a:t>دسکتاپ با حالت تاریک</a:t>
            </a:r>
          </a:p>
        </p:txBody>
      </p:sp>
    </p:spTree>
    <p:extLst>
      <p:ext uri="{BB962C8B-B14F-4D97-AF65-F5344CB8AC3E}">
        <p14:creationId xmlns:p14="http://schemas.microsoft.com/office/powerpoint/2010/main" val="1905938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rand-footer">
            <a:extLst>
              <a:ext uri="{FF2B5EF4-FFF2-40B4-BE49-F238E27FC236}">
                <a16:creationId xmlns:a16="http://schemas.microsoft.com/office/drawing/2014/main" id="{898AAF37-1FF6-433C-A43F-31A0B8850413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4F433CAB-1E6C-44E7-BAD0-5DD96C76E3E4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6B786B"/>
                </a:solidFill>
                <a:cs typeface="B Nazanin" panose="00000400000000000000" pitchFamily="2" charset="-78"/>
              </a:rPr>
              <a:t>14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DFEF728C-2DD1-4BAF-B86A-BC8E8F36CF1B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193B2D"/>
                </a:solidFill>
                <a:cs typeface="B Nazanin" panose="00000400000000000000" pitchFamily="2" charset="-78"/>
              </a:rPr>
              <a:t>کنترل از مرز سازمان تا موجودی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F9731FC-942F-40BE-97CE-587F4B36DD95}"/>
              </a:ext>
            </a:extLst>
          </p:cNvPr>
          <p:cNvSpPr>
            <a:spLocks noGrp="1"/>
          </p:cNvSpPr>
          <p:nvPr/>
        </p:nvSpPr>
        <p:spPr>
          <a:xfrm>
            <a:off x="8096250" y="1762125"/>
            <a:ext cx="3571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325" b="1">
                <a:solidFill>
                  <a:srgbClr val="193B2D"/>
                </a:solidFill>
                <a:cs typeface="B Nazanin" panose="00000400000000000000" pitchFamily="2" charset="-78"/>
              </a:rPr>
              <a:t>دسترسی سازمانی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7FF8D39-AFCB-4D54-BE9F-46CC04C389FD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676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6B786B"/>
                </a:solidFill>
                <a:cs typeface="B Nazanin" panose="00000400000000000000" pitchFamily="2" charset="-78"/>
              </a:rPr>
              <a:t>اطلاعات خصوصی براساس عضویت و نقش کاربر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B5F8825-E37F-44E5-B53B-97A2BB164F43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3571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325" b="1">
                <a:solidFill>
                  <a:srgbClr val="193B2D"/>
                </a:solidFill>
                <a:cs typeface="B Nazanin" panose="00000400000000000000" pitchFamily="2" charset="-78"/>
              </a:rPr>
              <a:t>گردش موجودی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9DF0987-3E00-44DB-887D-F8E79B44B884}"/>
              </a:ext>
            </a:extLst>
          </p:cNvPr>
          <p:cNvSpPr>
            <a:spLocks noGrp="1"/>
          </p:cNvSpPr>
          <p:nvPr/>
        </p:nvSpPr>
        <p:spPr>
          <a:xfrm>
            <a:off x="619125" y="2905125"/>
            <a:ext cx="676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6B786B"/>
                </a:solidFill>
                <a:cs typeface="B Nazanin" panose="00000400000000000000" pitchFamily="2" charset="-78"/>
              </a:rPr>
              <a:t>ثبت تغییرات موجودی در کنار عملیات مربوط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B0BDB4A-36BE-4981-ACCE-56B93B92712D}"/>
              </a:ext>
            </a:extLst>
          </p:cNvPr>
          <p:cNvSpPr>
            <a:spLocks noGrp="1"/>
          </p:cNvSpPr>
          <p:nvPr/>
        </p:nvSpPr>
        <p:spPr>
          <a:xfrm>
            <a:off x="8096250" y="3952875"/>
            <a:ext cx="3571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325" b="1">
                <a:solidFill>
                  <a:srgbClr val="193B2D"/>
                </a:solidFill>
                <a:cs typeface="B Nazanin" panose="00000400000000000000" pitchFamily="2" charset="-78"/>
              </a:rPr>
              <a:t>رزرو زمان‌دار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3A1EDFF-5218-47D9-B156-80A293A58CF3}"/>
              </a:ext>
            </a:extLst>
          </p:cNvPr>
          <p:cNvSpPr>
            <a:spLocks noGrp="1"/>
          </p:cNvSpPr>
          <p:nvPr/>
        </p:nvSpPr>
        <p:spPr>
          <a:xfrm>
            <a:off x="619125" y="4000500"/>
            <a:ext cx="676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6B786B"/>
                </a:solidFill>
                <a:cs typeface="B Nazanin" panose="00000400000000000000" pitchFamily="2" charset="-78"/>
              </a:rPr>
              <a:t>انقضا و آزادسازی رزروهای موقت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D8023EF-0909-4049-B729-3DB56AEFE112}"/>
              </a:ext>
            </a:extLst>
          </p:cNvPr>
          <p:cNvSpPr>
            <a:spLocks noGrp="1"/>
          </p:cNvSpPr>
          <p:nvPr/>
        </p:nvSpPr>
        <p:spPr>
          <a:xfrm>
            <a:off x="8096250" y="5048250"/>
            <a:ext cx="3571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defPPr>
            <a:lvl1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1pPr>
            <a:lvl2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2pPr>
            <a:lvl3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3pPr>
            <a:lvl4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4pPr>
            <a:lvl5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5pPr>
            <a:lvl6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6pPr>
            <a:lvl7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7pPr>
            <a:lvl8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8pPr>
            <a:lvl9pPr algn="r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325" b="1">
                <a:solidFill>
                  <a:srgbClr val="193B2D"/>
                </a:solidFill>
                <a:latin typeface="Tahoma"/>
                <a:ea typeface="Tahoma"/>
                <a:cs typeface="Tahoma"/>
              </a:defRPr>
            </a:pPr>
            <a:r>
              <a:rPr lang="fa-IR" sz="2325" b="1">
                <a:solidFill>
                  <a:srgbClr val="193B2D"/>
                </a:solidFill>
                <a:cs typeface="B Nazanin" panose="00000400000000000000" pitchFamily="2" charset="-78"/>
              </a:rPr>
              <a:t>دقت مقدار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E319967-D0D0-4EB6-9905-8AF64D0299FD}"/>
              </a:ext>
            </a:extLst>
          </p:cNvPr>
          <p:cNvSpPr>
            <a:spLocks noGrp="1"/>
          </p:cNvSpPr>
          <p:nvPr/>
        </p:nvSpPr>
        <p:spPr>
          <a:xfrm>
            <a:off x="619125" y="5095875"/>
            <a:ext cx="676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defPPr>
            <a:lvl1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1pPr>
            <a:lvl2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2pPr>
            <a:lvl3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3pPr>
            <a:lvl4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4pPr>
            <a:lvl5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5pPr>
            <a:lvl6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6pPr>
            <a:lvl7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7pPr>
            <a:lvl8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8pPr>
            <a:lvl9pPr algn="r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025" b="0">
                <a:solidFill>
                  <a:srgbClr val="6B786B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6B786B"/>
                </a:solidFill>
                <a:cs typeface="B Nazanin" panose="00000400000000000000" pitchFamily="2" charset="-78"/>
              </a:rPr>
              <a:t>نگهداری مقدار وزن با دقت اعشاری</a:t>
            </a:r>
          </a:p>
        </p:txBody>
      </p:sp>
    </p:spTree>
    <p:extLst>
      <p:ext uri="{BB962C8B-B14F-4D97-AF65-F5344CB8AC3E}">
        <p14:creationId xmlns:p14="http://schemas.microsoft.com/office/powerpoint/2010/main" val="1020206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rand-footer">
            <a:extLst>
              <a:ext uri="{FF2B5EF4-FFF2-40B4-BE49-F238E27FC236}">
                <a16:creationId xmlns:a16="http://schemas.microsoft.com/office/drawing/2014/main" id="{BF43C0A4-97D0-4FE8-982E-CADA5C5535A7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77BE8417-5D66-4AA8-BFB8-65526AECE5CD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15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C86F5513-7CAF-49BD-AE8D-EFDBEBF5883D}"/>
              </a:ext>
            </a:extLst>
          </p:cNvPr>
          <p:cNvSpPr>
            <a:spLocks noGrp="1"/>
          </p:cNvSpPr>
          <p:nvPr/>
        </p:nvSpPr>
        <p:spPr>
          <a:xfrm>
            <a:off x="523875" y="457200"/>
            <a:ext cx="11144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F5F3E9"/>
                </a:solidFill>
                <a:cs typeface="B Nazanin" panose="00000400000000000000" pitchFamily="2" charset="-78"/>
              </a:rPr>
              <a:t>دامنهٔ فعلی و مسیر توسعه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D563A7E-7EEF-4E1F-8C71-AE26D128AB81}"/>
              </a:ext>
            </a:extLst>
          </p:cNvPr>
          <p:cNvSpPr>
            <a:spLocks noGrp="1"/>
          </p:cNvSpPr>
          <p:nvPr/>
        </p:nvSpPr>
        <p:spPr>
          <a:xfrm>
            <a:off x="7143750" y="1857375"/>
            <a:ext cx="4524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B6CA86"/>
                </a:solidFill>
                <a:cs typeface="B Nazanin" panose="00000400000000000000" pitchFamily="2" charset="-78"/>
              </a:rPr>
              <a:t>امروز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9961B9D-9895-4D87-9993-733F82E9545A}"/>
              </a:ext>
            </a:extLst>
          </p:cNvPr>
          <p:cNvSpPr>
            <a:spLocks noGrp="1"/>
          </p:cNvSpPr>
          <p:nvPr/>
        </p:nvSpPr>
        <p:spPr>
          <a:xfrm>
            <a:off x="6858000" y="2876550"/>
            <a:ext cx="4810125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عرضه و بررسی محصول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موجودی و رزرو موقت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بازار و مدیریت مشتری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لندینگ چندزبانه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BDEFE18-3C68-4DF2-A455-A2F3790BFDC2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4857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3300" b="1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lang="fa-IR" sz="3300" b="1">
                <a:solidFill>
                  <a:srgbClr val="DCC39A"/>
                </a:solidFill>
                <a:cs typeface="B Nazanin" panose="00000400000000000000" pitchFamily="2" charset="-78"/>
              </a:rPr>
              <a:t>گام‌های بعدی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97AD3C0-3333-4C22-BFB6-EB3D3DE27E68}"/>
              </a:ext>
            </a:extLst>
          </p:cNvPr>
          <p:cNvSpPr>
            <a:spLocks noGrp="1"/>
          </p:cNvSpPr>
          <p:nvPr/>
        </p:nvSpPr>
        <p:spPr>
          <a:xfrm>
            <a:off x="619125" y="2876550"/>
            <a:ext cx="4857750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r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مذاکره و نسخه‌های قیمت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سفارش و قرارداد معتبر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اسناد خصوصی و حمل</a:t>
            </a:r>
          </a:p>
          <a:p>
            <a:pPr algn="r" rtl="1">
              <a:defRPr sz="2175" b="0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2175" b="0">
                <a:solidFill>
                  <a:srgbClr val="F5F3E9"/>
                </a:solidFill>
                <a:cs typeface="B Nazanin" panose="00000400000000000000" pitchFamily="2" charset="-78"/>
              </a:rPr>
              <a:t>پرداخت و الزامات صادرات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7222971-B1F4-4270-AF39-631B9C8980CD}"/>
              </a:ext>
            </a:extLst>
          </p:cNvPr>
          <p:cNvSpPr>
            <a:spLocks noGrp="1"/>
          </p:cNvSpPr>
          <p:nvPr/>
        </p:nvSpPr>
        <p:spPr>
          <a:xfrm>
            <a:off x="1905000" y="5810250"/>
            <a:ext cx="9763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r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 rtl="1">
              <a:defRPr sz="1800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lang="fa-IR" sz="1800" b="0">
                <a:solidFill>
                  <a:srgbClr val="DCC39A"/>
                </a:solidFill>
                <a:cs typeface="B Nazanin" panose="00000400000000000000" pitchFamily="2" charset="-78"/>
              </a:rPr>
              <a:t>قابلیت‌های ستون آینده هنوز ارائه نشده‌اند</a:t>
            </a:r>
          </a:p>
        </p:txBody>
      </p:sp>
    </p:spTree>
    <p:extLst>
      <p:ext uri="{BB962C8B-B14F-4D97-AF65-F5344CB8AC3E}">
        <p14:creationId xmlns:p14="http://schemas.microsoft.com/office/powerpoint/2010/main" val="855268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rand-footer">
            <a:extLst>
              <a:ext uri="{FF2B5EF4-FFF2-40B4-BE49-F238E27FC236}">
                <a16:creationId xmlns:a16="http://schemas.microsoft.com/office/drawing/2014/main" id="{47F4CAEC-3609-4BB4-B058-A477CDD83310}"/>
              </a:ext>
            </a:extLst>
          </p:cNvPr>
          <p:cNvSpPr>
            <a:spLocks noGrp="1"/>
          </p:cNvSpPr>
          <p:nvPr/>
        </p:nvSpPr>
        <p:spPr>
          <a:xfrm>
            <a:off x="523875" y="6448425"/>
            <a:ext cx="1238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l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AgriTrade</a:t>
            </a:r>
          </a:p>
        </p:txBody>
      </p:sp>
      <p:sp>
        <p:nvSpPr>
          <p:cNvPr id="2" name="page-footer">
            <a:extLst>
              <a:ext uri="{FF2B5EF4-FFF2-40B4-BE49-F238E27FC236}">
                <a16:creationId xmlns:a16="http://schemas.microsoft.com/office/drawing/2014/main" id="{B95BAF88-1221-451F-B10C-F266CEF1BD2A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33337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r">
              <a:defRPr sz="1125" b="0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B6CA86"/>
                </a:solidFill>
                <a:cs typeface="B Nazanin" panose="00000400000000000000" pitchFamily="2" charset="-78"/>
              </a:rPr>
              <a:t>16</a:t>
            </a:r>
          </a:p>
        </p:txBody>
      </p:sp>
      <p:sp>
        <p:nvSpPr>
          <p:cNvPr id="3" name="closing-brand">
            <a:extLst>
              <a:ext uri="{FF2B5EF4-FFF2-40B4-BE49-F238E27FC236}">
                <a16:creationId xmlns:a16="http://schemas.microsoft.com/office/drawing/2014/main" id="{C1EFA67E-BFF5-4F03-A95C-F64371E966B7}"/>
              </a:ext>
            </a:extLst>
          </p:cNvPr>
          <p:cNvSpPr>
            <a:spLocks noGrp="1"/>
          </p:cNvSpPr>
          <p:nvPr/>
        </p:nvSpPr>
        <p:spPr>
          <a:xfrm>
            <a:off x="952500" y="1190625"/>
            <a:ext cx="10287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defPPr>
            <a:lvl1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1pPr>
            <a:lvl2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2pPr>
            <a:lvl3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3pPr>
            <a:lvl4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4pPr>
            <a:lvl5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5pPr>
            <a:lvl6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6pPr>
            <a:lvl7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7pPr>
            <a:lvl8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8pPr>
            <a:lvl9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ctr">
              <a:defRPr sz="7650" b="1">
                <a:solidFill>
                  <a:srgbClr val="B6CA86"/>
                </a:solidFill>
                <a:latin typeface="Tahoma"/>
                <a:ea typeface="Tahoma"/>
                <a:cs typeface="Tahoma"/>
              </a:defRPr>
            </a:pPr>
            <a:r>
              <a:rPr lang="en-US" dirty="0" err="1">
                <a:cs typeface="B Nazanin" panose="00000400000000000000" pitchFamily="2" charset="-78"/>
              </a:rPr>
              <a:t>AgriBrics</a:t>
            </a:r>
            <a:endParaRPr sz="7650" b="1" dirty="0">
              <a:solidFill>
                <a:srgbClr val="B6CA86"/>
              </a:solidFill>
              <a:cs typeface="B Nazanin" panose="00000400000000000000" pitchFamily="2" charset="-78"/>
            </a:endParaRP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44A0D447-A67D-4588-8F96-91203AF74BAD}"/>
              </a:ext>
            </a:extLst>
          </p:cNvPr>
          <p:cNvSpPr>
            <a:spLocks noGrp="1"/>
          </p:cNvSpPr>
          <p:nvPr/>
        </p:nvSpPr>
        <p:spPr>
          <a:xfrm>
            <a:off x="619125" y="3133725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defPPr>
            <a:lvl1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1pPr>
            <a:lvl2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2pPr>
            <a:lvl3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3pPr>
            <a:lvl4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4pPr>
            <a:lvl5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5pPr>
            <a:lvl6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6pPr>
            <a:lvl7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7pPr>
            <a:lvl8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8pPr>
            <a:lvl9pPr algn="ctr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ctr" rtl="1">
              <a:defRPr sz="3600" b="1">
                <a:solidFill>
                  <a:srgbClr val="F5F3E9"/>
                </a:solidFill>
                <a:latin typeface="Tahoma"/>
                <a:ea typeface="Tahoma"/>
                <a:cs typeface="Tahoma"/>
              </a:defRPr>
            </a:pPr>
            <a:r>
              <a:rPr lang="fa-IR" sz="3600" b="1">
                <a:solidFill>
                  <a:srgbClr val="F5F3E9"/>
                </a:solidFill>
                <a:cs typeface="B Nazanin" panose="00000400000000000000" pitchFamily="2" charset="-78"/>
              </a:rPr>
              <a:t>بیایید محصول را در عمل ببینیم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08B1264-0E5B-4FC9-AAEE-A70EF903BB84}"/>
              </a:ext>
            </a:extLst>
          </p:cNvPr>
          <p:cNvSpPr>
            <a:spLocks noGrp="1"/>
          </p:cNvSpPr>
          <p:nvPr/>
        </p:nvSpPr>
        <p:spPr>
          <a:xfrm>
            <a:off x="952500" y="4514850"/>
            <a:ext cx="10287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defPPr>
            <a:lvl1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1pPr>
            <a:lvl2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2pPr>
            <a:lvl3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3pPr>
            <a:lvl4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4pPr>
            <a:lvl5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5pPr>
            <a:lvl6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6pPr>
            <a:lvl7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7pPr>
            <a:lvl8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8pPr>
            <a:lvl9pPr algn="ctr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ctr" rtl="1">
              <a:defRPr sz="2025" b="0">
                <a:solidFill>
                  <a:srgbClr val="D1DCC9"/>
                </a:solidFill>
                <a:latin typeface="Tahoma"/>
                <a:ea typeface="Tahoma"/>
                <a:cs typeface="Tahoma"/>
              </a:defRPr>
            </a:pPr>
            <a:r>
              <a:rPr lang="fa-IR" sz="2025" b="0">
                <a:solidFill>
                  <a:srgbClr val="D1DCC9"/>
                </a:solidFill>
                <a:cs typeface="B Nazanin" panose="00000400000000000000" pitchFamily="2" charset="-78"/>
              </a:rPr>
              <a:t>ثبت محصول، بررسی، جست‌وجو و رزرو موقت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2BC7D01-0F8F-4572-BD48-EDFE2466043D}"/>
              </a:ext>
            </a:extLst>
          </p:cNvPr>
          <p:cNvSpPr>
            <a:spLocks noGrp="1"/>
          </p:cNvSpPr>
          <p:nvPr/>
        </p:nvSpPr>
        <p:spPr>
          <a:xfrm>
            <a:off x="952500" y="566737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defPPr>
            <a:lvl1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1pPr>
            <a:lvl2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2pPr>
            <a:lvl3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3pPr>
            <a:lvl4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4pPr>
            <a:lvl5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5pPr>
            <a:lvl6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6pPr>
            <a:lvl7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7pPr>
            <a:lvl8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8pPr>
            <a:lvl9pPr algn="ctr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lvl9pPr>
          </a:lstStyle>
          <a:p>
            <a:pPr algn="ctr" rtl="1">
              <a:defRPr sz="1725" b="0">
                <a:solidFill>
                  <a:srgbClr val="DCC39A"/>
                </a:solidFill>
                <a:latin typeface="Tahoma"/>
                <a:ea typeface="Tahoma"/>
                <a:cs typeface="Tahoma"/>
              </a:defRPr>
            </a:pPr>
            <a:r>
              <a:rPr lang="fa-IR" sz="1725" b="0">
                <a:solidFill>
                  <a:srgbClr val="DCC39A"/>
                </a:solidFill>
                <a:cs typeface="B Nazanin" panose="00000400000000000000" pitchFamily="2" charset="-78"/>
              </a:rPr>
              <a:t>پلتفرمی مستقل با تمرکز بر تجارت کشاورزی</a:t>
            </a:r>
          </a:p>
        </p:txBody>
      </p:sp>
    </p:spTree>
    <p:extLst>
      <p:ext uri="{BB962C8B-B14F-4D97-AF65-F5344CB8AC3E}">
        <p14:creationId xmlns:p14="http://schemas.microsoft.com/office/powerpoint/2010/main" val="19936045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2312</Words>
  <Application>Microsoft Office PowerPoint</Application>
  <DocSecurity>0</DocSecurity>
  <PresentationFormat>Widescreen</PresentationFormat>
  <Paragraphs>209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Aptos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5</cp:revision>
  <dcterms:created xsi:type="dcterms:W3CDTF">2026-10-24T15:53:58Z</dcterms:created>
  <dcterms:modified xsi:type="dcterms:W3CDTF">2026-10-24T16:10:52Z</dcterms:modified>
</cp:coreProperties>
</file>